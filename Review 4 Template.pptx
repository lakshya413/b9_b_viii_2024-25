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4" r:id="rId8"/>
    <p:sldId id="262" r:id="rId9"/>
    <p:sldId id="271" r:id="rId10"/>
    <p:sldId id="274" r:id="rId11"/>
    <p:sldId id="272" r:id="rId12"/>
    <p:sldId id="283" r:id="rId13"/>
    <p:sldId id="276" r:id="rId14"/>
    <p:sldId id="277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>
        <p:scale>
          <a:sx n="81" d="100"/>
          <a:sy n="81" d="100"/>
        </p:scale>
        <p:origin x="-8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0A9AA-7A1D-4ED2-B9F4-B62273FFD1A4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5C652-B8A8-429B-A198-5BD2EE4FA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97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5C652-B8A8-429B-A198-5BD2EE4FA8F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73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5C652-B8A8-429B-A198-5BD2EE4FA8F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4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4BBD3F-E464-8A07-F76F-B964F5871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E53D955-3190-4FC9-AD33-3EED9CF37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3230AD1-F76A-29C3-1EF9-B26FCB96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B68993-EC76-B9B6-B2F9-522F5F28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3E3E25-2F83-D509-C2EC-5C738246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10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2F387E-CFA0-16C4-DDB9-198EA640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10D294-DBF4-842D-E663-94E6EDDC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DE96715-2E48-649E-D0F6-78BABBB9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0477EB-0D6A-E275-33D6-8AC39D0E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DADE9A1-F833-5533-80FA-9EC29E7B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21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6BF6D8-5096-6F4F-98E9-A8327F75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859E8DA-B296-9E1D-B403-E473174F8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4765EE0-7DFF-48BF-C88F-03D21814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874B899-7B68-B0C7-69CD-2DB15684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9B02152-8C5E-BA43-957E-B1AC28FE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0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129D1E-3560-C279-408C-AB019236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3C174-6CF7-F375-3D08-F6C6C857D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AA3AEFE-50D2-B604-F720-6FB0454A7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64A14ED-677E-97C2-497C-DDCE3BEE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3665E2E-682E-ACFE-8FA8-DCD84870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B56E336-E855-5BE0-599D-4FCBC9BC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57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1DD8FA-7B79-6001-9B58-D0794B76E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3031BA-B37F-2A36-32DF-0AFF55C0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983B4F8-777A-2571-B140-86291F293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E3DF5DD-C145-3ECC-703B-D3CC6AC2F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B4E485D-083E-0B12-5A90-11CD1D249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B53CB9F-4626-BD2B-0108-87341192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543F5FD-B234-BEE6-F115-40FE9DCA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9ACBC09-C97B-54B9-DDA1-91BE8E2F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9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D64AB5-5A2C-C834-B02D-79B5E843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F310336-8EB0-34ED-052F-A20F44D0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051DA1-053B-83CB-5BF0-32945270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B3B748F-3C52-E544-4C3D-6E8EF5B1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33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3BA7B78-F306-168E-3631-9EB55A24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D3F5D0C-C679-4FD2-D191-E4F8B95F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FC248D-F5DB-421A-CA4C-EE1E1F39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66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9A892C-4858-856C-B769-580C5027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B429FA9-186D-AE6B-77AE-A49176B2B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573E200-0D11-8A5D-B94A-748186E8C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EE1D34C-1B1A-32C4-F373-25B9E971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F3EBD2D-DD51-CBEC-97D1-943EEA02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8958A3C-2722-A1E8-B877-30CAEDF5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04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AA4A6F-1800-4EEE-F3D0-AF6814B1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F88AB20-44E2-8887-D9AE-58EDCCF17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31C2B5B-DFBE-F61D-6667-AF70D556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A9C71F-EC00-4F22-C039-EDA017400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A450CBA-D74E-A195-A04E-9EC3F8DE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EF3667-64D4-4298-7993-3B699B69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6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B33950-768A-6269-A881-CA818B26C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5D44105-F655-D8E6-5D6E-8AEC324E4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CEA4B2-2FDC-40BA-D779-E7CBFC9C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40D6E8-C6E4-3D1B-9D0C-2E19B3D4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2405F1-EFCD-C95B-5946-89531885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45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4662620-7E49-20CB-6A79-563CDD324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2A8BB6B-34F1-92E6-A8F4-8ABF27184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735238E-AD35-4957-B4DB-7D878805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E6FE125-B490-570C-7ADA-5219EFA2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34E1E7-8D49-7B26-EB73-4262C102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2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C16B3E-00BA-A0B1-740D-E4089D82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DAB5D62-3ED3-56E0-6452-7DAA85B53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E7B388-6988-536E-C793-48DC14686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847EA-D0A6-4274-8FA6-96599DBF1C2D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3B0CC0-D8C0-D7AC-F587-31BBC0085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D401412-DF7A-DA2B-884C-9758AC55C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FBF81-A920-49A8-9B0B-32B7C2625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2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="" xmlns:a16="http://schemas.microsoft.com/office/drawing/2014/main" id="{4DBC10ED-AD63-FC0B-F10E-1A078ADCFD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4612988"/>
              </p:ext>
            </p:extLst>
          </p:nvPr>
        </p:nvGraphicFramePr>
        <p:xfrm>
          <a:off x="1302936" y="1629197"/>
          <a:ext cx="10069285" cy="3736222"/>
        </p:xfrm>
        <a:graphic>
          <a:graphicData uri="http://schemas.openxmlformats.org/drawingml/2006/table">
            <a:tbl>
              <a:tblPr firstRow="1" bandRow="1"/>
              <a:tblGrid>
                <a:gridCol w="2721428">
                  <a:extLst>
                    <a:ext uri="{9D8B030D-6E8A-4147-A177-3AD203B41FA5}">
                      <a16:colId xmlns="" xmlns:a16="http://schemas.microsoft.com/office/drawing/2014/main" val="3871855704"/>
                    </a:ext>
                  </a:extLst>
                </a:gridCol>
                <a:gridCol w="7347857">
                  <a:extLst>
                    <a:ext uri="{9D8B030D-6E8A-4147-A177-3AD203B41FA5}">
                      <a16:colId xmlns="" xmlns:a16="http://schemas.microsoft.com/office/drawing/2014/main" val="3946487840"/>
                    </a:ext>
                  </a:extLst>
                </a:gridCol>
              </a:tblGrid>
              <a:tr h="1014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en-IN" sz="2800" b="1" kern="1200" dirty="0" smtClean="0">
                          <a:solidFill>
                            <a:schemeClr val="tx1"/>
                          </a:solidFill>
                          <a:effectLst/>
                          <a:latin typeface="Tenorite"/>
                          <a:ea typeface="+mn-ea"/>
                          <a:cs typeface="+mn-cs"/>
                        </a:rPr>
                        <a:t>Plant Disease Detection Using Deep Learning and </a:t>
                      </a:r>
                      <a:r>
                        <a:rPr lang="en-IN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enorite"/>
                          <a:ea typeface="+mn-ea"/>
                          <a:cs typeface="+mn-cs"/>
                        </a:rPr>
                        <a:t>IoT</a:t>
                      </a:r>
                      <a:r>
                        <a:rPr lang="en-IN" sz="2800" b="1" kern="1200" dirty="0" smtClean="0">
                          <a:solidFill>
                            <a:schemeClr val="tx1"/>
                          </a:solidFill>
                          <a:effectLst/>
                          <a:latin typeface="Tenorite"/>
                          <a:ea typeface="+mn-ea"/>
                          <a:cs typeface="+mn-cs"/>
                        </a:rPr>
                        <a:t> Automation</a:t>
                      </a:r>
                      <a:r>
                        <a:rPr lang="en-US" sz="2800" b="1" dirty="0" smtClean="0">
                          <a:solidFill>
                            <a:schemeClr val="tx1"/>
                          </a:solidFill>
                        </a:rPr>
                        <a:t>"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49111106"/>
                  </a:ext>
                </a:extLst>
              </a:tr>
              <a:tr h="571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dirty="0" smtClean="0"/>
                        <a:t>B9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1536264"/>
                  </a:ext>
                </a:extLst>
              </a:tr>
              <a:tr h="5034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dirty="0"/>
                        <a:t>GUIDE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Tenorite"/>
                          <a:ea typeface="+mn-ea"/>
                          <a:cs typeface="+mn-cs"/>
                        </a:rPr>
                        <a:t>Dr. S.K. Chaya Devi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Tenorite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Tenorite"/>
                          <a:ea typeface="+mn-ea"/>
                          <a:cs typeface="+mn-cs"/>
                        </a:rPr>
                        <a:t>Associate Professor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89146365"/>
                  </a:ext>
                </a:extLst>
              </a:tr>
              <a:tr h="7483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dirty="0"/>
                        <a:t>STUDENT NAMES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dirty="0" smtClean="0"/>
                        <a:t>P.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Shivamani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R. Lakshya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5568830"/>
                  </a:ext>
                </a:extLst>
              </a:tr>
              <a:tr h="762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dirty="0"/>
                        <a:t>Roll Numbers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dirty="0" smtClean="0"/>
                        <a:t>1602-21-737-113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dirty="0" smtClean="0"/>
                        <a:t>1602-21-737-091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972979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3B568AE-885B-1EC6-B839-03DCCF6F8DE1}"/>
              </a:ext>
            </a:extLst>
          </p:cNvPr>
          <p:cNvSpPr txBox="1"/>
          <p:nvPr/>
        </p:nvSpPr>
        <p:spPr>
          <a:xfrm>
            <a:off x="1219199" y="864550"/>
            <a:ext cx="101530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Berlin Sans FB"/>
              </a:rPr>
              <a:t>REVIEW - 4</a:t>
            </a:r>
          </a:p>
        </p:txBody>
      </p:sp>
    </p:spTree>
    <p:extLst>
      <p:ext uri="{BB962C8B-B14F-4D97-AF65-F5344CB8AC3E}">
        <p14:creationId xmlns:p14="http://schemas.microsoft.com/office/powerpoint/2010/main" val="418326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EE672F-576A-89B3-1040-737E5958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Berlin Sans FB"/>
              </a:rPr>
              <a:t>CONTENTS</a:t>
            </a:r>
            <a:br>
              <a:rPr lang="en-US" sz="4400" dirty="0">
                <a:latin typeface="Berlin Sans FB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FBD7F8-0041-9CE9-2C8F-9CE8A9389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431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Abstract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Introduction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Objective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Literature survey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Existing Methodology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Proposed </a:t>
            </a:r>
            <a:r>
              <a:rPr lang="en-US" sz="2800" dirty="0" smtClean="0"/>
              <a:t>Methodology</a:t>
            </a:r>
          </a:p>
          <a:p>
            <a:pPr marL="457200" indent="-457200">
              <a:buFont typeface="Arial"/>
              <a:buChar char="•"/>
            </a:pPr>
            <a:r>
              <a:rPr lang="en-US" dirty="0" smtClean="0"/>
              <a:t>Architecture Diagram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 smtClean="0"/>
              <a:t>Dataset Description</a:t>
            </a: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Implementation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Results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6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75A258-A31B-D472-AEDA-11CD8F97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0B370A-7461-B118-E809-37D4AEF8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Agriculture depends on timely data insights</a:t>
            </a:r>
          </a:p>
          <a:p>
            <a:r>
              <a:rPr lang="en-IN" dirty="0"/>
              <a:t>Crop yield predictions improve planning</a:t>
            </a:r>
          </a:p>
          <a:p>
            <a:r>
              <a:rPr lang="en-IN" dirty="0"/>
              <a:t>Soil sensors enable smart irrigation</a:t>
            </a:r>
          </a:p>
          <a:p>
            <a:r>
              <a:rPr lang="en-IN" dirty="0"/>
              <a:t>Machine learning aids crop selection</a:t>
            </a:r>
          </a:p>
          <a:p>
            <a:r>
              <a:rPr lang="en-IN" dirty="0"/>
              <a:t>CNN identifies plant leaf diseases</a:t>
            </a:r>
          </a:p>
          <a:p>
            <a:r>
              <a:rPr lang="en-IN" dirty="0" err="1"/>
              <a:t>ThingSpeak</a:t>
            </a:r>
            <a:r>
              <a:rPr lang="en-IN" dirty="0"/>
              <a:t> and Pi enable live tracking</a:t>
            </a:r>
          </a:p>
          <a:p>
            <a:r>
              <a:rPr lang="en-IN" dirty="0"/>
              <a:t>System supports precision farming goals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35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Agricultural Impact:</a:t>
            </a:r>
            <a:r>
              <a:rPr lang="en-US" dirty="0"/>
              <a:t> Diseases in plants lead to food insecurity and economic loss.</a:t>
            </a:r>
          </a:p>
          <a:p>
            <a:r>
              <a:rPr lang="en-US" b="1" dirty="0"/>
              <a:t>Manual Diagnosis Issues:</a:t>
            </a:r>
            <a:r>
              <a:rPr lang="en-US" dirty="0"/>
              <a:t> Error-prone and inefficient, especially for large-scale farming.</a:t>
            </a:r>
          </a:p>
          <a:p>
            <a:r>
              <a:rPr lang="en-US" b="1" dirty="0"/>
              <a:t>Deep Learning Advancement:</a:t>
            </a:r>
            <a:r>
              <a:rPr lang="en-US" dirty="0"/>
              <a:t> CNNs (</a:t>
            </a:r>
            <a:r>
              <a:rPr lang="en-US" dirty="0" err="1"/>
              <a:t>ResNet</a:t>
            </a:r>
            <a:r>
              <a:rPr lang="en-US" dirty="0"/>
              <a:t>) can detect disease patterns from leaf images with high accuracy.</a:t>
            </a:r>
          </a:p>
          <a:p>
            <a:r>
              <a:rPr lang="en-US" b="1" dirty="0"/>
              <a:t>Project Goal:</a:t>
            </a:r>
            <a:r>
              <a:rPr lang="en-US" dirty="0"/>
              <a:t> Develop a smart AI-based system for detecting plant diseases, predicting crop yield, recommending suitable crops, monitoring soil moisture, and enabling smart irrigation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4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design and develop a hybrid system integrating </a:t>
            </a:r>
            <a:r>
              <a:rPr lang="en-US" dirty="0" err="1"/>
              <a:t>IoT</a:t>
            </a:r>
            <a:r>
              <a:rPr lang="en-US" dirty="0"/>
              <a:t> devices and Deep Learning </a:t>
            </a:r>
            <a:r>
              <a:rPr lang="en-US" dirty="0" smtClean="0"/>
              <a:t>models</a:t>
            </a:r>
            <a:endParaRPr lang="en-IN" dirty="0" smtClean="0"/>
          </a:p>
          <a:p>
            <a:r>
              <a:rPr lang="en-IN" dirty="0" smtClean="0"/>
              <a:t>Detect </a:t>
            </a:r>
            <a:r>
              <a:rPr lang="en-IN" dirty="0"/>
              <a:t>plant diseases using </a:t>
            </a:r>
            <a:r>
              <a:rPr lang="en-IN" dirty="0" err="1"/>
              <a:t>ResNet</a:t>
            </a:r>
            <a:r>
              <a:rPr lang="en-IN" dirty="0"/>
              <a:t>-based CNN model.</a:t>
            </a:r>
          </a:p>
          <a:p>
            <a:r>
              <a:rPr lang="en-IN" dirty="0"/>
              <a:t>Predict crop yield using machine learning models based on soil and weather data.</a:t>
            </a:r>
          </a:p>
          <a:p>
            <a:r>
              <a:rPr lang="en-IN" dirty="0"/>
              <a:t>Recommend crops based on soil properties</a:t>
            </a:r>
            <a:r>
              <a:rPr lang="en-IN" dirty="0" smtClean="0"/>
              <a:t>.</a:t>
            </a:r>
            <a:endParaRPr lang="en-IN" dirty="0"/>
          </a:p>
          <a:p>
            <a:r>
              <a:rPr lang="en-IN" dirty="0"/>
              <a:t>Enable automated irrigation based on soil moisture levels</a:t>
            </a:r>
            <a:r>
              <a:rPr lang="en-IN" dirty="0" smtClean="0"/>
              <a:t>.</a:t>
            </a:r>
          </a:p>
          <a:p>
            <a:r>
              <a:rPr lang="en-US" dirty="0"/>
              <a:t>To optimize the system for energy efficiency and scalability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75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LITERATURE SURVEY</a:t>
            </a:r>
            <a:endParaRPr lang="en-IN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5" y="1633415"/>
            <a:ext cx="11058770" cy="4566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2540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LITERATURE SURVEY</a:t>
            </a:r>
            <a:endParaRPr lang="en-IN" dirty="0"/>
          </a:p>
        </p:txBody>
      </p:sp>
      <p:sp>
        <p:nvSpPr>
          <p:cNvPr id="4" name="Freeform 4"/>
          <p:cNvSpPr>
            <a:spLocks noGrp="1"/>
          </p:cNvSpPr>
          <p:nvPr>
            <p:ph idx="1"/>
          </p:nvPr>
        </p:nvSpPr>
        <p:spPr>
          <a:custGeom>
            <a:avLst/>
            <a:gdLst/>
            <a:ahLst/>
            <a:cxnLst/>
            <a:rect l="l" t="t" r="r" b="b"/>
            <a:pathLst>
              <a:path w="10856241" h="10287000">
                <a:moveTo>
                  <a:pt x="0" y="0"/>
                </a:moveTo>
                <a:lnTo>
                  <a:pt x="10856241" y="0"/>
                </a:lnTo>
                <a:lnTo>
                  <a:pt x="1085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644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EXISTING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695773" lvl="1" indent="-347886">
              <a:lnSpc>
                <a:spcPts val="3544"/>
              </a:lnSpc>
              <a:buFont typeface="Arial"/>
              <a:buChar char="•"/>
            </a:pPr>
            <a:r>
              <a:rPr lang="en-US" sz="3222" b="1" dirty="0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</a:rPr>
              <a:t>The authors discuss multiple DL models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—such as </a:t>
            </a:r>
            <a:r>
              <a:rPr lang="en-US" sz="3222" dirty="0" err="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AlexNet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222" dirty="0" err="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GoogleNet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222" dirty="0" err="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VGGNet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222" dirty="0" err="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ResNet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, and </a:t>
            </a:r>
            <a:r>
              <a:rPr lang="en-US" sz="3222" dirty="0" err="1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DenseNet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—and evaluate their performance for plant disease detection:</a:t>
            </a:r>
          </a:p>
          <a:p>
            <a:pPr>
              <a:lnSpc>
                <a:spcPts val="3544"/>
              </a:lnSpc>
            </a:pPr>
            <a:endParaRPr lang="en-US" sz="3222" dirty="0">
              <a:solidFill>
                <a:srgbClr val="73737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95773" lvl="1" indent="-347886">
              <a:lnSpc>
                <a:spcPts val="3544"/>
              </a:lnSpc>
              <a:buFont typeface="Arial"/>
              <a:buChar char="•"/>
            </a:pPr>
            <a:r>
              <a:rPr lang="en-US" sz="3222" b="1" dirty="0" err="1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</a:rPr>
              <a:t>DenseNet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: Chosen for its efficient gradient flow and feature reuse, minimizing computational costs.</a:t>
            </a:r>
          </a:p>
          <a:p>
            <a:pPr>
              <a:lnSpc>
                <a:spcPts val="3544"/>
              </a:lnSpc>
            </a:pPr>
            <a:endParaRPr lang="en-US" sz="3222" dirty="0">
              <a:solidFill>
                <a:srgbClr val="73737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95773" lvl="1" indent="-347886">
              <a:lnSpc>
                <a:spcPts val="3544"/>
              </a:lnSpc>
              <a:buFont typeface="Arial"/>
              <a:buChar char="•"/>
            </a:pPr>
            <a:r>
              <a:rPr lang="en-US" sz="3222" b="1" dirty="0" err="1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</a:rPr>
              <a:t>VGGNet</a:t>
            </a:r>
            <a:r>
              <a:rPr lang="en-US" sz="3222" b="1" dirty="0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</a:rPr>
              <a:t> and </a:t>
            </a:r>
            <a:r>
              <a:rPr lang="en-US" sz="3222" b="1" dirty="0" err="1" smtClean="0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</a:rPr>
              <a:t>AlexNet</a:t>
            </a:r>
            <a:r>
              <a:rPr lang="en-US" sz="3222" dirty="0">
                <a:solidFill>
                  <a:srgbClr val="737373"/>
                </a:solidFill>
                <a:latin typeface="DM Sans"/>
                <a:ea typeface="DM Sans"/>
                <a:cs typeface="DM Sans"/>
                <a:sym typeface="DM Sans"/>
              </a:rPr>
              <a:t>: Known for their accuracy in complex classification tasks but require significant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69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EXISTING METHDOLOGY</a:t>
            </a:r>
            <a:endParaRPr lang="en-IN" dirty="0"/>
          </a:p>
        </p:txBody>
      </p:sp>
      <p:sp>
        <p:nvSpPr>
          <p:cNvPr id="5" name="Freeform 6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35769" cy="3582621"/>
          </a:xfrm>
          <a:custGeom>
            <a:avLst/>
            <a:gdLst/>
            <a:ahLst/>
            <a:cxnLst/>
            <a:rect l="l" t="t" r="r" b="b"/>
            <a:pathLst>
              <a:path w="7967932" h="2240981">
                <a:moveTo>
                  <a:pt x="0" y="0"/>
                </a:moveTo>
                <a:lnTo>
                  <a:pt x="7967932" y="0"/>
                </a:lnTo>
                <a:lnTo>
                  <a:pt x="7967932" y="2240981"/>
                </a:lnTo>
                <a:lnTo>
                  <a:pt x="0" y="2240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6" name="Freeform 4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95985" cy="3801452"/>
          </a:xfrm>
          <a:custGeom>
            <a:avLst/>
            <a:gdLst/>
            <a:ahLst/>
            <a:cxnLst/>
            <a:rect l="l" t="t" r="r" b="b"/>
            <a:pathLst>
              <a:path w="8556020" h="3811071">
                <a:moveTo>
                  <a:pt x="0" y="0"/>
                </a:moveTo>
                <a:lnTo>
                  <a:pt x="8556020" y="0"/>
                </a:lnTo>
                <a:lnTo>
                  <a:pt x="8556020" y="3811071"/>
                </a:lnTo>
                <a:lnTo>
                  <a:pt x="0" y="3811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94"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14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PROPOSED METHODLOGY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5803289" cy="381158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IoT</a:t>
            </a:r>
            <a:r>
              <a:rPr lang="en-US" sz="2000" dirty="0"/>
              <a:t> Sensors: Deployed in agricultural fields for continuous monitoring of environmental and crop health parameters.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CNN Model: Trained on crop images, it performs feature extraction and disease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Cloud Integration: Data collected by </a:t>
            </a:r>
            <a:r>
              <a:rPr lang="en-US" sz="2000" dirty="0" err="1"/>
              <a:t>IoT</a:t>
            </a:r>
            <a:r>
              <a:rPr lang="en-US" sz="2000" dirty="0"/>
              <a:t> sensors is transmitted to the cloud for processing. A hybrid CNN model is applied to classify diseases and suggest appropriate actions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25" y="1777671"/>
            <a:ext cx="4462463" cy="3293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357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 DIAGRAM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080419"/>
            <a:ext cx="7943850" cy="384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07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861" y="395533"/>
            <a:ext cx="10410092" cy="784591"/>
          </a:xfrm>
        </p:spPr>
        <p:txBody>
          <a:bodyPr>
            <a:normAutofit/>
          </a:bodyPr>
          <a:lstStyle/>
          <a:p>
            <a:r>
              <a:rPr lang="en-IN" sz="4400" dirty="0" smtClean="0"/>
              <a:t>DATASET DECRIPTION</a:t>
            </a:r>
            <a:endParaRPr lang="en-I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0461" y="1562223"/>
            <a:ext cx="9144000" cy="4143008"/>
          </a:xfrm>
        </p:spPr>
        <p:txBody>
          <a:bodyPr/>
          <a:lstStyle/>
          <a:p>
            <a:pPr algn="l"/>
            <a:r>
              <a:rPr lang="en-US" b="1" dirty="0"/>
              <a:t>Plant Disease Dataset (</a:t>
            </a:r>
            <a:r>
              <a:rPr lang="en-US" b="1" dirty="0" err="1" smtClean="0"/>
              <a:t>PlantVillage</a:t>
            </a:r>
            <a:r>
              <a:rPr lang="en-US" b="1" dirty="0" smtClean="0"/>
              <a:t>)</a:t>
            </a:r>
            <a:r>
              <a:rPr lang="en-US" b="1" dirty="0" err="1" smtClean="0"/>
              <a:t>Kaggle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– 50,000+ labeled leaf images</a:t>
            </a:r>
            <a:br>
              <a:rPr lang="en-US" dirty="0"/>
            </a:br>
            <a:r>
              <a:rPr lang="en-US" dirty="0"/>
              <a:t>– Covers 38 classes: healthy &amp; diseased crops</a:t>
            </a:r>
            <a:br>
              <a:rPr lang="en-US" dirty="0"/>
            </a:br>
            <a:r>
              <a:rPr lang="en-US" dirty="0"/>
              <a:t>– Used </a:t>
            </a:r>
            <a:r>
              <a:rPr lang="en-US" dirty="0" smtClean="0"/>
              <a:t>for </a:t>
            </a:r>
            <a:r>
              <a:rPr lang="en-US" dirty="0"/>
              <a:t>training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en-US" dirty="0" smtClean="0"/>
              <a:t>mode</a:t>
            </a:r>
          </a:p>
          <a:p>
            <a:pPr algn="l"/>
            <a:endParaRPr lang="en-US" dirty="0"/>
          </a:p>
          <a:p>
            <a:pPr algn="l"/>
            <a:r>
              <a:rPr lang="en-IN" b="1" dirty="0"/>
              <a:t>Crop Recommendation Dataset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– </a:t>
            </a:r>
            <a:r>
              <a:rPr lang="en-IN" i="1" dirty="0" smtClean="0"/>
              <a:t>Source</a:t>
            </a:r>
            <a:r>
              <a:rPr lang="en-IN" i="1" dirty="0"/>
              <a:t>:</a:t>
            </a:r>
            <a:r>
              <a:rPr lang="en-IN" dirty="0"/>
              <a:t> </a:t>
            </a:r>
            <a:r>
              <a:rPr lang="en-IN" dirty="0" err="1"/>
              <a:t>Kaggle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– Includes N, P, K, temperature, humidity, pH, </a:t>
            </a:r>
            <a:r>
              <a:rPr lang="en-IN" dirty="0" smtClean="0"/>
              <a:t>      rainfall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– Used for suggesting suitable crops</a:t>
            </a:r>
          </a:p>
        </p:txBody>
      </p:sp>
    </p:spTree>
    <p:extLst>
      <p:ext uri="{BB962C8B-B14F-4D97-AF65-F5344CB8AC3E}">
        <p14:creationId xmlns:p14="http://schemas.microsoft.com/office/powerpoint/2010/main" val="310296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IMPLEMENTATION</a:t>
            </a:r>
            <a:endParaRPr lang="en-IN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430216" y="1683481"/>
            <a:ext cx="4314092" cy="3584088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7026031" y="2235201"/>
            <a:ext cx="4009292" cy="378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55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Results</a:t>
            </a:r>
            <a:endParaRPr lang="en-IN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562" y="1875692"/>
            <a:ext cx="4020699" cy="3634154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369538" y="2844800"/>
            <a:ext cx="4486031" cy="360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0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81353" y="1567993"/>
            <a:ext cx="1162147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Vijaypal</a:t>
            </a:r>
            <a:r>
              <a:rPr lang="en-IN" dirty="0"/>
              <a:t> Singh Dhaka 1, Nidhi </a:t>
            </a:r>
            <a:r>
              <a:rPr lang="en-IN" dirty="0" err="1"/>
              <a:t>Kundu</a:t>
            </a:r>
            <a:r>
              <a:rPr lang="en-IN" dirty="0"/>
              <a:t> 2, </a:t>
            </a:r>
            <a:r>
              <a:rPr lang="en-IN" dirty="0" err="1"/>
              <a:t>Geeta</a:t>
            </a:r>
            <a:r>
              <a:rPr lang="en-IN" dirty="0"/>
              <a:t> Rani 1,* , Ester </a:t>
            </a:r>
            <a:r>
              <a:rPr lang="en-IN" dirty="0" err="1"/>
              <a:t>Zumpano</a:t>
            </a:r>
            <a:r>
              <a:rPr lang="en-IN" dirty="0"/>
              <a:t> 3,4 and Eugenio </a:t>
            </a:r>
            <a:r>
              <a:rPr lang="en-IN" dirty="0" err="1"/>
              <a:t>Vocaturo</a:t>
            </a:r>
            <a:r>
              <a:rPr lang="en-IN" dirty="0"/>
              <a:t> </a:t>
            </a:r>
            <a:r>
              <a:rPr lang="en-IN" dirty="0" smtClean="0"/>
              <a:t>3,4 “Role </a:t>
            </a:r>
            <a:r>
              <a:rPr lang="en-IN" dirty="0"/>
              <a:t>of Internet of Things and Deep Learning Techniques </a:t>
            </a:r>
            <a:r>
              <a:rPr lang="en-IN" dirty="0" smtClean="0"/>
              <a:t>in Plant </a:t>
            </a:r>
            <a:r>
              <a:rPr lang="en-IN" dirty="0"/>
              <a:t>Disease Detection and Classification: A Focused </a:t>
            </a:r>
            <a:r>
              <a:rPr lang="en-IN" dirty="0" smtClean="0"/>
              <a:t>Review”(2023).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Mohanty</a:t>
            </a:r>
            <a:r>
              <a:rPr lang="en-US" dirty="0"/>
              <a:t>, </a:t>
            </a:r>
            <a:r>
              <a:rPr lang="en-US" dirty="0" err="1"/>
              <a:t>Sharada</a:t>
            </a:r>
            <a:r>
              <a:rPr lang="en-US" dirty="0"/>
              <a:t> P., David P. Hughes, and Marcel </a:t>
            </a:r>
            <a:r>
              <a:rPr lang="en-US" dirty="0" err="1"/>
              <a:t>Salathé</a:t>
            </a:r>
            <a:r>
              <a:rPr lang="en-US" dirty="0"/>
              <a:t>. "Using deep learning for image-based plant disease detection." Frontiers in Plant Science 7 (2016): 1419</a:t>
            </a:r>
            <a:r>
              <a:rPr lang="en-US" dirty="0" smtClean="0"/>
              <a:t>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Brahimi</a:t>
            </a:r>
            <a:r>
              <a:rPr lang="en-US" dirty="0"/>
              <a:t>, Mohamed, </a:t>
            </a:r>
            <a:r>
              <a:rPr lang="en-US" dirty="0" err="1"/>
              <a:t>Khadidja</a:t>
            </a:r>
            <a:r>
              <a:rPr lang="en-US" dirty="0"/>
              <a:t> </a:t>
            </a:r>
            <a:r>
              <a:rPr lang="en-US" dirty="0" err="1"/>
              <a:t>Boukhalfa</a:t>
            </a:r>
            <a:r>
              <a:rPr lang="en-US" dirty="0"/>
              <a:t>, and </a:t>
            </a:r>
            <a:r>
              <a:rPr lang="en-US" dirty="0" err="1"/>
              <a:t>Abdelouahab</a:t>
            </a:r>
            <a:r>
              <a:rPr lang="en-US" dirty="0"/>
              <a:t> Moussaoui. "Deep learning for tomato diseases: Classification and symptoms visualization." Applied Artificial Intelligence 31.4 (2017): 299-315</a:t>
            </a:r>
            <a:r>
              <a:rPr lang="en-US" dirty="0" smtClean="0"/>
              <a:t>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Sladojevic</a:t>
            </a:r>
            <a:r>
              <a:rPr lang="en-US" dirty="0"/>
              <a:t>, </a:t>
            </a:r>
            <a:r>
              <a:rPr lang="en-US" dirty="0" err="1"/>
              <a:t>Srdjan</a:t>
            </a:r>
            <a:r>
              <a:rPr lang="en-US" dirty="0"/>
              <a:t>, et al. "Deep neural networks based recognition of plant diseases by leaf image classification." Computational Intelligence and Neuroscience 2016 (2016): 1-11</a:t>
            </a:r>
            <a:r>
              <a:rPr lang="en-US" dirty="0" smtClean="0"/>
              <a:t>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Ferentinos</a:t>
            </a:r>
            <a:r>
              <a:rPr lang="en-US" dirty="0"/>
              <a:t>, Konstantinos P. "Deep learning models for plant disease detection and diagnosis." Computers and Electronics in Agriculture 145 (2018): </a:t>
            </a:r>
            <a:r>
              <a:rPr lang="en-US" dirty="0" smtClean="0"/>
              <a:t>311-318.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Too, Eric C., et al. "A comparative study of fine-tuning deep learning models for plant disease identification." Computers and Electronics in Agriculture 161 (2019): 272-279.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62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581</Words>
  <Application>Microsoft Office PowerPoint</Application>
  <PresentationFormat>Custom</PresentationFormat>
  <Paragraphs>77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CONTENTS </vt:lpstr>
      <vt:lpstr>ABSTRACT</vt:lpstr>
      <vt:lpstr>INTRODUCTION</vt:lpstr>
      <vt:lpstr>OBJECTIVE</vt:lpstr>
      <vt:lpstr>LITERATURE SURVEY</vt:lpstr>
      <vt:lpstr>LITERATURE SURVEY</vt:lpstr>
      <vt:lpstr>EXISTING METHODOLOGY</vt:lpstr>
      <vt:lpstr>EXISTING METHDOLOGY</vt:lpstr>
      <vt:lpstr>PROPOSED METHODLOGY</vt:lpstr>
      <vt:lpstr>ARCHITECTURE DIAGRAM</vt:lpstr>
      <vt:lpstr>DATASET DECRIPTION</vt:lpstr>
      <vt:lpstr>IMPLEMENTATION</vt:lpstr>
      <vt:lpstr>Results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Leela Pallava</dc:creator>
  <cp:lastModifiedBy>lakshya rayavarapu</cp:lastModifiedBy>
  <cp:revision>25</cp:revision>
  <dcterms:created xsi:type="dcterms:W3CDTF">2025-03-25T09:27:37Z</dcterms:created>
  <dcterms:modified xsi:type="dcterms:W3CDTF">2025-03-29T08:29:28Z</dcterms:modified>
</cp:coreProperties>
</file>